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02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Bank Marketing Case Study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Term Deposit Subscription Behavior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 Week 5 Business Analytics Case Study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931920"/>
            <a:ext cx="1280160" cy="54864"/>
          </a:xfrm>
          <a:prstGeom prst="rect">
            <a:avLst/>
          </a:prstGeom>
          <a:solidFill>
            <a:srgbClr val="CADCF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some customers subscribe to term deposits while others do not and which customer groups are more likely to respond positively to marketing campaigns?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3383280"/>
            <a:ext cx="10607040" cy="2377440"/>
          </a:xfrm>
          <a:prstGeom prst="roundRect">
            <a:avLst>
              <a:gd name="adj" fmla="val 384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3611880"/>
            <a:ext cx="100584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sz="17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Undirected marketing outreach is costly and inefficient. Understanding which customers are most likely to convert allows the bank to shift from a one-size-fits-all campaign to a targeted strategy improving conversion rates while reducing wasted contact effort.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11,162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contacts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3429000" y="2423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47.4%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6217920" y="2423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Subscribed (yes)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560320" cy="1737360"/>
          </a:xfrm>
          <a:prstGeom prst="roundRect">
            <a:avLst>
              <a:gd name="adj" fmla="val 6316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6459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9006840" y="24231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4023360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▪"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job, marital status, education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balance, loans, credit default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method, duration, day/month
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(subscribed: yes/no)</a:t>
            </a:r>
            <a:endParaRPr lang="en-US" sz="1500" dirty="0"/>
          </a:p>
        </p:txBody>
      </p:sp>
      <p:pic>
        <p:nvPicPr>
          <p:cNvPr id="17" name="Image 0" descr="../char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3429000"/>
            <a:ext cx="457200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Distributions: Age &amp; Balance</a:t>
            </a:r>
            <a:endParaRPr lang="en-US" sz="3000" dirty="0"/>
          </a:p>
        </p:txBody>
      </p:sp>
      <p:pic>
        <p:nvPicPr>
          <p:cNvPr id="3" name="Image 0" descr="../chart_age_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669280" cy="3657600"/>
          </a:xfrm>
          <a:prstGeom prst="rect">
            <a:avLst/>
          </a:prstGeom>
        </p:spPr>
      </p:pic>
      <p:pic>
        <p:nvPicPr>
          <p:cNvPr id="4" name="Image 1" descr="../chart_balance_over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80160"/>
            <a:ext cx="5486400" cy="2194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09360" y="3749040"/>
            <a:ext cx="5486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is heavily right-skewed: </a:t>
            </a:r>
            <a:r>
              <a:rPr lang="en-US" sz="1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≈ €550, but a small number of high-balance outliers pull the mean to €1,528.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Responds Best? Education &amp; Marital Status</a:t>
            </a:r>
            <a:endParaRPr lang="en-US" sz="2700" dirty="0"/>
          </a:p>
        </p:txBody>
      </p:sp>
      <p:pic>
        <p:nvPicPr>
          <p:cNvPr id="3" name="Image 0" descr="../chart_edu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669280" cy="4846320"/>
          </a:xfrm>
          <a:prstGeom prst="rect">
            <a:avLst/>
          </a:prstGeom>
        </p:spPr>
      </p:pic>
      <p:pic>
        <p:nvPicPr>
          <p:cNvPr id="4" name="Image 1" descr="../chart_marit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5303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Responds Best? Job &amp; Age</a:t>
            </a:r>
            <a:endParaRPr lang="en-US" sz="3000" dirty="0"/>
          </a:p>
        </p:txBody>
      </p:sp>
      <p:pic>
        <p:nvPicPr>
          <p:cNvPr id="3" name="Image 0" descr="../chart_jo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760720" cy="5120640"/>
          </a:xfrm>
          <a:prstGeom prst="rect">
            <a:avLst/>
          </a:prstGeom>
        </p:spPr>
      </p:pic>
      <p:pic>
        <p:nvPicPr>
          <p:cNvPr id="4" name="Image 1" descr="../chart_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530352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Strongest Signal: Prior Success &amp; Contact Method</a:t>
            </a:r>
            <a:endParaRPr lang="en-US" sz="2700" dirty="0"/>
          </a:p>
        </p:txBody>
      </p:sp>
      <p:pic>
        <p:nvPicPr>
          <p:cNvPr id="3" name="Image 0" descr="../chart_poutc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5760720" cy="4846320"/>
          </a:xfrm>
          <a:prstGeom prst="rect">
            <a:avLst/>
          </a:prstGeom>
        </p:spPr>
      </p:pic>
      <p:pic>
        <p:nvPicPr>
          <p:cNvPr id="4" name="Image 1" descr="../chart_cont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530352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Timing &amp; Numeric Relationships</a:t>
            </a:r>
            <a:endParaRPr lang="en-US" sz="3000" dirty="0"/>
          </a:p>
        </p:txBody>
      </p:sp>
      <p:pic>
        <p:nvPicPr>
          <p:cNvPr id="3" name="Image 0" descr="../chart_mo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943600" cy="5120640"/>
          </a:xfrm>
          <a:prstGeom prst="rect">
            <a:avLst/>
          </a:prstGeom>
        </p:spPr>
      </p:pic>
      <p:pic>
        <p:nvPicPr>
          <p:cNvPr id="4" name="Image 1" descr="../chart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512064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Predicts Subscription</a:t>
            </a:r>
            <a:endParaRPr lang="en-US" sz="3000" dirty="0"/>
          </a:p>
        </p:txBody>
      </p:sp>
      <p:pic>
        <p:nvPicPr>
          <p:cNvPr id="3" name="Image 0" descr="../chart_balance_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371600"/>
            <a:ext cx="7772400" cy="4389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5852160"/>
            <a:ext cx="9966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balance: </a:t>
            </a:r>
            <a:r>
              <a:rPr lang="en-US" sz="1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€733 for subscribers vs €414 for non-subscribers nearly double.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Major Findings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344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success predicts future success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013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who subscribed before convert again at ~91% vs ~41% for never-contacted customers.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0" y="134416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is U-shaped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537960" y="180136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 (~82%) and 18-30 (~57%) subscribe far more than working-age adults 31-50 (~41-43%).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035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type is a strong signal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77240" y="34930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(~75%) and retirees (~65%) subscribe much more than blue-collar/entrepreneurs </a:t>
            </a:r>
            <a:r>
              <a:rPr lang="en-NG" sz="1400" dirty="0"/>
              <a:t>(~36-38%)</a:t>
            </a: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30358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method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349300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Cellular/telephone convert at ~50-54% vs only ~23% for unrecorded ("unknown") contacts.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7274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predicts conversion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18464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hold nearly double the median balance of non-subscribers (€733 vs €414).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309360" y="4617720"/>
            <a:ext cx="5486400" cy="1508760"/>
          </a:xfrm>
          <a:prstGeom prst="roundRect">
            <a:avLst>
              <a:gd name="adj" fmla="val 6061"/>
            </a:avLst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47274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overloaded, underperformed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37960" y="5184648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all contacts happened in May, which had the lowest conversion rate (~33%).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re-engaging customers with previous campaign success (~91% conversion)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7744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marketing focus toward students, retirees, and single customers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33756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337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33756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reliance on unrecorded contact methods — shift toward cellular/telephone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29768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42976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Reconsider campaign timing and volume, especially around May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257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525780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account balance as a pre-screening signal for outreach prioritization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07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deposit subscription is driven primarily by a customer's life stage, financial standing, and prior relationship with the bank not by campaign volume alone.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prioritizing previously successful customers, focusing on the most receptive segments, improving contact reliability, and rebalancing campaign timing, the bank has a clear, data-backed path to higher conversion at lower cost.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AnalystLab Africa Data Analytics Internship Program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503</Words>
  <Application>Microsoft Office PowerPoint</Application>
  <PresentationFormat>Widescreen</PresentationFormat>
  <Paragraphs>68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Burabari Kogbara</cp:lastModifiedBy>
  <cp:revision>3</cp:revision>
  <dcterms:created xsi:type="dcterms:W3CDTF">2026-08-03T19:53:50Z</dcterms:created>
  <dcterms:modified xsi:type="dcterms:W3CDTF">2026-08-03T20:58:30Z</dcterms:modified>
</cp:coreProperties>
</file>